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0" r:id="rId9"/>
    <p:sldId id="261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DE26-408C-676C-ED03-1D327796B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3AA75-2382-8390-945A-8A2D99D90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496B1-E3A0-4C8A-3546-BA3F594A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EE2B-7F75-2F12-EB6C-379BCDD6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2525C-5972-264E-25C9-C4A85CA7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8D714-DDF8-B2B9-F420-46C47558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17819-2115-FBCE-C30D-A3A1CF976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FD99B-7141-AD23-0DF7-AC8885B6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1ED9B-40CB-25C6-D97D-7FB8867D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776AA-2695-B366-5D1E-E1ABC711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6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E0EB-FFF4-0298-7DF5-17884221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50F03-9FFC-8945-FFB9-9E1D61207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EFEF-3597-472C-6322-3E6D6FB1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D0329-2A88-F801-D23A-08024959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F5246-4406-7C2E-8BD7-BDEB489C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4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F7A6-086E-92A0-6AFD-762BD09E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47E21-3787-6CDD-1012-DA154241F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63421-56CF-36BF-AEFF-D589C17DB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461A5-96D8-20F4-B87A-6E8FDCB9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B4242-6EFF-DE2D-EC99-B91CB6A5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F6BDF-3AF8-6A37-A3CE-640387DC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3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FFA7-776D-9C3F-F8B2-BEE2FE36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16E61-AD7C-D4C1-3F8D-D659CA508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B5E96-CAC4-5A45-3CF1-5398BEBD7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214FD-E844-CB79-B642-A6E04EF83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DAF58-6B05-07DE-B391-4517BFBCB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0C8D7-6531-F1C9-3F8C-7D0A4445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1FE7B-685D-CEE9-B052-2F038624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5188F-97F6-7D3F-20C0-674E40B0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62D9-5FA8-DDEF-37AD-38D610DB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024C2-440A-9455-729E-7747E9B0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21F9A-204B-F518-3504-10D8B2A8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B1DDE-93C3-4509-73C4-4F5FB707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DAD79-F0A4-B6FF-9E9E-07EF4548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5F231-5B51-1958-DD90-6FC376B1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5E0EE-CCA6-E6D3-4593-D46AAC71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9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DC3B-2C6A-9A94-A786-65AA7119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67419-50C1-385B-C047-76BFA2B0E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3AFF3-6043-1FC5-04EF-D9E0E4AC4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464AC-E378-9E53-EF18-A19FD478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7109D-AA24-8425-C117-5801DEFA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4E209-2703-6458-2705-3DDEA457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2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3507-5B8D-30F0-FF7F-70E2B9929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15AB58-BD42-1992-4A99-A7C26D6802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8275-C26F-A1C9-0D36-6CF41D30F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8820D-70E3-6C27-235B-F01E9AF1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3B839-ACAD-308B-E92E-71E2D748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50ABF-F2F6-1A1C-F89C-B1DDB023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58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2377-3A28-D4B5-3947-F68760E8C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F5B1D-50A1-03CB-0E50-CED51D16C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9B40C-3453-2487-F192-1E53634C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4BA75-2995-D68A-1DE3-E688AFE5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CF1D5-F34B-31AB-8CED-8372E959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EEA3C-AA01-2ADA-C605-567F46067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A11B4-F7DC-7074-9443-92DE28441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8D617-E9D4-5B44-B656-DEC57001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19348-4E4F-5146-DEDA-BDD335A4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B1369-21DB-3BE0-CCE8-F7A1A93C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2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CC2F9-C5A1-8E60-ABD5-F1884F98E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8B91D-5796-419C-B7BE-CA529935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79715-ED2B-C6DE-E5DE-2F4C77123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34AF6-E7F7-4F7D-B53D-359FD96AD50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E996E-0B06-7A40-2C7D-C0C46A3BB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16642-6C2D-EE42-8D09-2D4282C10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682D-2BE3-4D04-BFA2-629FB09D5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8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posts/thirishkumar_physicaldesign-vlsi-placement-activity-7413434389776359424-0Iob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517-D2C6-DC90-8439-05D942A3D2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043F3-0FC8-9D24-7705-E8AE626CE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CD8C-C06E-A2A9-9345-BFF6DA45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4803-40E0-14A3-BE2C-41AC6D9B1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7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20CD-79D8-3585-802E-880C77C1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5" y="-134425"/>
            <a:ext cx="10515600" cy="1325563"/>
          </a:xfrm>
        </p:spPr>
        <p:txBody>
          <a:bodyPr/>
          <a:lstStyle/>
          <a:p>
            <a:r>
              <a:rPr lang="en-US"/>
              <a:t>Init design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DE4417-0A37-E083-4CE8-FE3E91916A48}"/>
              </a:ext>
            </a:extLst>
          </p:cNvPr>
          <p:cNvSpPr/>
          <p:nvPr/>
        </p:nvSpPr>
        <p:spPr>
          <a:xfrm>
            <a:off x="5134333" y="2674180"/>
            <a:ext cx="2599170" cy="10936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Init design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41F207-39B7-4A7E-CEE9-E72B4CC7D6CB}"/>
              </a:ext>
            </a:extLst>
          </p:cNvPr>
          <p:cNvSpPr/>
          <p:nvPr/>
        </p:nvSpPr>
        <p:spPr>
          <a:xfrm>
            <a:off x="328863" y="1741697"/>
            <a:ext cx="3698852" cy="60961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FA120-E118-3E04-5A21-54AC76FF675D}"/>
              </a:ext>
            </a:extLst>
          </p:cNvPr>
          <p:cNvSpPr/>
          <p:nvPr/>
        </p:nvSpPr>
        <p:spPr>
          <a:xfrm>
            <a:off x="328863" y="2547241"/>
            <a:ext cx="3698852" cy="60961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ECE58B-71F8-F902-4329-89BF40FC6CB6}"/>
              </a:ext>
            </a:extLst>
          </p:cNvPr>
          <p:cNvSpPr/>
          <p:nvPr/>
        </p:nvSpPr>
        <p:spPr>
          <a:xfrm>
            <a:off x="328863" y="3396334"/>
            <a:ext cx="3698852" cy="60961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A858C8-87CE-518E-0C85-FA02BA8CF34C}"/>
              </a:ext>
            </a:extLst>
          </p:cNvPr>
          <p:cNvSpPr/>
          <p:nvPr/>
        </p:nvSpPr>
        <p:spPr>
          <a:xfrm>
            <a:off x="328863" y="4245427"/>
            <a:ext cx="3698852" cy="60961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6BC01E-5046-825B-CB72-5F2BAB1E984E}"/>
              </a:ext>
            </a:extLst>
          </p:cNvPr>
          <p:cNvSpPr/>
          <p:nvPr/>
        </p:nvSpPr>
        <p:spPr>
          <a:xfrm>
            <a:off x="8318976" y="2399440"/>
            <a:ext cx="3698852" cy="165463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2CFB7-7F72-D013-CDB9-40B180CF2F79}"/>
              </a:ext>
            </a:extLst>
          </p:cNvPr>
          <p:cNvSpPr txBox="1"/>
          <p:nvPr/>
        </p:nvSpPr>
        <p:spPr>
          <a:xfrm>
            <a:off x="328863" y="1781172"/>
            <a:ext cx="3698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Logic/timing </a:t>
            </a:r>
          </a:p>
          <a:p>
            <a:r>
              <a:rPr lang="en-US"/>
              <a:t>Cells.lib, macro.lib, pad.lib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206949-C16A-ED4E-635C-89C72936076B}"/>
              </a:ext>
            </a:extLst>
          </p:cNvPr>
          <p:cNvSpPr txBox="1"/>
          <p:nvPr/>
        </p:nvSpPr>
        <p:spPr>
          <a:xfrm>
            <a:off x="328863" y="2547241"/>
            <a:ext cx="3353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Physical library </a:t>
            </a:r>
          </a:p>
          <a:p>
            <a:r>
              <a:rPr lang="en-US"/>
              <a:t>Cells.lef, macro.lef. Pad.lib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160535-702E-23D4-89EC-A7AEBBE4D4FE}"/>
              </a:ext>
            </a:extLst>
          </p:cNvPr>
          <p:cNvSpPr txBox="1"/>
          <p:nvPr/>
        </p:nvSpPr>
        <p:spPr>
          <a:xfrm>
            <a:off x="300247" y="3372894"/>
            <a:ext cx="3967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Constraints:</a:t>
            </a:r>
          </a:p>
          <a:p>
            <a:r>
              <a:rPr lang="en-US"/>
              <a:t>MMMC, SDC, I/O, Placement, Die size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19A49C-3D33-A6C0-0158-A401FDE3973E}"/>
              </a:ext>
            </a:extLst>
          </p:cNvPr>
          <p:cNvSpPr txBox="1"/>
          <p:nvPr/>
        </p:nvSpPr>
        <p:spPr>
          <a:xfrm>
            <a:off x="328863" y="4264436"/>
            <a:ext cx="3065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Tech file </a:t>
            </a:r>
          </a:p>
          <a:p>
            <a:r>
              <a:rPr lang="en-US"/>
              <a:t>P&amp;R tech , interconnect tech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21C79-F41B-E5E4-5827-8458E399339C}"/>
              </a:ext>
            </a:extLst>
          </p:cNvPr>
          <p:cNvSpPr txBox="1"/>
          <p:nvPr/>
        </p:nvSpPr>
        <p:spPr>
          <a:xfrm>
            <a:off x="8466654" y="2556524"/>
            <a:ext cx="3195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Read and check quality of input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Input are valid and constraint are complete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Design is ready</a:t>
            </a:r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8A7F099-ACA5-2DE0-D007-D35A3C1B1EF3}"/>
              </a:ext>
            </a:extLst>
          </p:cNvPr>
          <p:cNvSpPr/>
          <p:nvPr/>
        </p:nvSpPr>
        <p:spPr>
          <a:xfrm>
            <a:off x="174172" y="850232"/>
            <a:ext cx="4093315" cy="474044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715139-203E-25CA-278C-0A67DFE52491}"/>
              </a:ext>
            </a:extLst>
          </p:cNvPr>
          <p:cNvSpPr txBox="1"/>
          <p:nvPr/>
        </p:nvSpPr>
        <p:spPr>
          <a:xfrm>
            <a:off x="1377130" y="1006516"/>
            <a:ext cx="968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/>
              <a:t>Input</a:t>
            </a:r>
            <a:r>
              <a:rPr lang="en-US"/>
              <a:t>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F1726B-8AEB-3C05-D370-C83610D21090}"/>
              </a:ext>
            </a:extLst>
          </p:cNvPr>
          <p:cNvCxnSpPr>
            <a:cxnSpLocks/>
            <a:stCxn id="20" idx="3"/>
            <a:endCxn id="3" idx="1"/>
          </p:cNvCxnSpPr>
          <p:nvPr/>
        </p:nvCxnSpPr>
        <p:spPr>
          <a:xfrm>
            <a:off x="4267487" y="3220454"/>
            <a:ext cx="866846" cy="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5E3FED-7F72-6DAB-560F-2B812E60E52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7733503" y="3220454"/>
            <a:ext cx="585473" cy="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43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1F06-FD92-527A-3DF8-74CAFA5E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3AA544-DFCC-14E5-E280-FAE09E998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312437"/>
              </p:ext>
            </p:extLst>
          </p:nvPr>
        </p:nvGraphicFramePr>
        <p:xfrm>
          <a:off x="1360285" y="1922698"/>
          <a:ext cx="8513488" cy="4461992"/>
        </p:xfrm>
        <a:graphic>
          <a:graphicData uri="http://schemas.openxmlformats.org/drawingml/2006/table">
            <a:tbl>
              <a:tblPr/>
              <a:tblGrid>
                <a:gridCol w="4256744">
                  <a:extLst>
                    <a:ext uri="{9D8B030D-6E8A-4147-A177-3AD203B41FA5}">
                      <a16:colId xmlns:a16="http://schemas.microsoft.com/office/drawing/2014/main" val="965145218"/>
                    </a:ext>
                  </a:extLst>
                </a:gridCol>
                <a:gridCol w="4256744">
                  <a:extLst>
                    <a:ext uri="{9D8B030D-6E8A-4147-A177-3AD203B41FA5}">
                      <a16:colId xmlns:a16="http://schemas.microsoft.com/office/drawing/2014/main" val="860200660"/>
                    </a:ext>
                  </a:extLst>
                </a:gridCol>
              </a:tblGrid>
              <a:tr h="304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Cell</a:t>
                      </a: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Mục đích</a:t>
                      </a: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678253"/>
                  </a:ext>
                </a:extLst>
              </a:tr>
              <a:tr h="5264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effectLst/>
                          <a:latin typeface="Arial" panose="020B0604020202020204" pitchFamily="34" charset="0"/>
                        </a:rPr>
                        <a:t>Well tap cell</a:t>
                      </a:r>
                      <a:endParaRPr lang="en-US" sz="15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Nối n-well tới 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VDD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 và substrate tới 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VSS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, giúp chống latch-up. rukmichavda.github+1</a:t>
                      </a: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077469"/>
                  </a:ext>
                </a:extLst>
              </a:tr>
              <a:tr h="7485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effectLst/>
                          <a:latin typeface="Arial" panose="020B0604020202020204" pitchFamily="34" charset="0"/>
                        </a:rPr>
                        <a:t>Endcap / boundary cell</a:t>
                      </a:r>
                      <a:endParaRPr lang="en-US" sz="15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Đặt ở đầu/cuối hàng standard cell, bảo vệ biên row và giảm well proximity effect/DRC. rukmichavda.github+1</a:t>
                      </a: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704475"/>
                  </a:ext>
                </a:extLst>
              </a:tr>
              <a:tr h="5264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effectLst/>
                          <a:latin typeface="Arial" panose="020B0604020202020204" pitchFamily="34" charset="0"/>
                        </a:rPr>
                        <a:t>Filler cell</a:t>
                      </a:r>
                      <a:endParaRPr lang="en-US" sz="15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Lấp khoảng trống giữa standard cells, duy trì liên tục n-well/implant và power rail. studylib+1</a:t>
                      </a: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815068"/>
                  </a:ext>
                </a:extLst>
              </a:tr>
              <a:tr h="7485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effectLst/>
                          <a:latin typeface="Arial" panose="020B0604020202020204" pitchFamily="34" charset="0"/>
                        </a:rPr>
                        <a:t>Decap cell</a:t>
                      </a:r>
                      <a:endParaRPr lang="en-US" sz="15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Hoạt động như tụ giữa 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VDD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 và 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VSS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, cung cấp dòng tức thời và giảm dynamic IR drop/ground bounce. rukmichavda.github+1</a:t>
                      </a: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924460"/>
                  </a:ext>
                </a:extLst>
              </a:tr>
              <a:tr h="5264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effectLst/>
                          <a:latin typeface="Arial" panose="020B0604020202020204" pitchFamily="34" charset="0"/>
                        </a:rPr>
                        <a:t>Tie cell</a:t>
                      </a:r>
                      <a:endParaRPr lang="en-US" sz="15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Cấp hằng số logic 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 hoặc 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 một cách an toàn, tránh nối trực tiếp gate tới 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VDD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500">
                          <a:effectLst/>
                          <a:latin typeface="Courier New" panose="02070309020205020404" pitchFamily="49" charset="0"/>
                        </a:rPr>
                        <a:t>VSS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en-US" sz="1500">
                          <a:effectLst/>
                          <a:latin typeface="Arial" panose="020B0604020202020204" pitchFamily="34" charset="0"/>
                          <a:hlinkClick r:id="rId2"/>
                        </a:rPr>
                        <a:t>linkedin</a:t>
                      </a:r>
                      <a:endParaRPr lang="en-US" sz="15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189755"/>
                  </a:ext>
                </a:extLst>
              </a:tr>
              <a:tr h="9706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effectLst/>
                          <a:latin typeface="Arial" panose="020B0604020202020204" pitchFamily="34" charset="0"/>
                        </a:rPr>
                        <a:t>Spare cell</a:t>
                      </a:r>
                      <a:endParaRPr lang="en-US" sz="15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  <a:latin typeface="Arial" panose="020B0604020202020204" pitchFamily="34" charset="0"/>
                        </a:rPr>
                        <a:t>Cell logic dự phòng chưa kết nối, dùng cho metal-only ECO sau này; nó có cấu trúc logic nhưng chưa thực hiện chức năng trong thiết kế ban đầu. linkedin+1</a:t>
                      </a:r>
                    </a:p>
                  </a:txBody>
                  <a:tcPr marL="41128" marR="41128" marT="41128" marB="4112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444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18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0C15-7197-1723-6F4A-E74041D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F05BE-55FE-6D88-3BBE-DA1B15E0E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43" y="1690688"/>
            <a:ext cx="6096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611C91-3312-59BE-4AE6-8E7343F6E6A7}"/>
              </a:ext>
            </a:extLst>
          </p:cNvPr>
          <p:cNvSpPr txBox="1"/>
          <p:nvPr/>
        </p:nvSpPr>
        <p:spPr>
          <a:xfrm>
            <a:off x="5268685" y="20839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Well tap cell</a:t>
            </a:r>
            <a:r>
              <a:rPr lang="en-US"/>
              <a:t> và </a:t>
            </a:r>
            <a:r>
              <a:rPr lang="en-US" b="1"/>
              <a:t>endcap cell</a:t>
            </a:r>
            <a:r>
              <a:rPr lang="en-US"/>
              <a:t> đều là physical-only cells, nhưng khác nhau về </a:t>
            </a:r>
            <a:r>
              <a:rPr lang="en-US" b="1"/>
              <a:t>vị trí</a:t>
            </a:r>
            <a:r>
              <a:rPr lang="en-US"/>
              <a:t> và </a:t>
            </a:r>
            <a:r>
              <a:rPr lang="en-US" b="1"/>
              <a:t>mục đích</a:t>
            </a:r>
            <a:r>
              <a:rPr lang="en-US"/>
              <a:t>: well tap dùng để </a:t>
            </a:r>
            <a:r>
              <a:rPr lang="en-US" b="1"/>
              <a:t>bias well/substrate và chống latch-up</a:t>
            </a:r>
            <a:r>
              <a:rPr lang="en-US"/>
              <a:t>, còn endcap dùng để </a:t>
            </a:r>
            <a:r>
              <a:rPr lang="en-US" b="1"/>
              <a:t>kết thúc biên row và bảo vệ cấu trúc well/diffusion ở mép</a:t>
            </a:r>
            <a:r>
              <a:rPr lang="en-US"/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8C483B-6C9C-A08C-AFD9-948A07D8FA51}"/>
              </a:ext>
            </a:extLst>
          </p:cNvPr>
          <p:cNvGraphicFramePr>
            <a:graphicFrameLocks noGrp="1"/>
          </p:cNvGraphicFramePr>
          <p:nvPr/>
        </p:nvGraphicFramePr>
        <p:xfrm>
          <a:off x="954864" y="1783016"/>
          <a:ext cx="10282272" cy="4436556"/>
        </p:xfrm>
        <a:graphic>
          <a:graphicData uri="http://schemas.openxmlformats.org/drawingml/2006/table">
            <a:tbl>
              <a:tblPr/>
              <a:tblGrid>
                <a:gridCol w="3427424">
                  <a:extLst>
                    <a:ext uri="{9D8B030D-6E8A-4147-A177-3AD203B41FA5}">
                      <a16:colId xmlns:a16="http://schemas.microsoft.com/office/drawing/2014/main" val="693296124"/>
                    </a:ext>
                  </a:extLst>
                </a:gridCol>
                <a:gridCol w="3427424">
                  <a:extLst>
                    <a:ext uri="{9D8B030D-6E8A-4147-A177-3AD203B41FA5}">
                      <a16:colId xmlns:a16="http://schemas.microsoft.com/office/drawing/2014/main" val="3140148199"/>
                    </a:ext>
                  </a:extLst>
                </a:gridCol>
                <a:gridCol w="3427424">
                  <a:extLst>
                    <a:ext uri="{9D8B030D-6E8A-4147-A177-3AD203B41FA5}">
                      <a16:colId xmlns:a16="http://schemas.microsoft.com/office/drawing/2014/main" val="1801477005"/>
                    </a:ext>
                  </a:extLst>
                </a:gridCol>
              </a:tblGrid>
              <a:tr h="3675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Khía cạnh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Well tap cell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Endcap / boundary cell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667353"/>
                  </a:ext>
                </a:extLst>
              </a:tr>
              <a:tr h="6358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Mục đích chính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Nối n-well với </a:t>
                      </a: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VDD</a:t>
                      </a: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, p-substrate với </a:t>
                      </a: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VSS</a:t>
                      </a: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; giữ proper well biasing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Kết thúc đầu/cuối placement row; bảo vệ biên well/diffusion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942381"/>
                  </a:ext>
                </a:extLst>
              </a:tr>
              <a:tr h="904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Vấn đề phòng tránh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  <a:latin typeface="Arial" panose="020B0604020202020204" pitchFamily="34" charset="0"/>
                        </a:rPr>
                        <a:t>Latch-up</a:t>
                      </a: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, floating well/substrate, vi phạm tap-spacing rule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DRC lỗi ở biên row, well proximity effect, cấu trúc mép không hợp lệ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235938"/>
                  </a:ext>
                </a:extLst>
              </a:tr>
              <a:tr h="904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Vị trí đặt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Rải </a:t>
                      </a:r>
                      <a:r>
                        <a:rPr lang="en-US" sz="1800" b="1">
                          <a:effectLst/>
                          <a:latin typeface="Arial" panose="020B0604020202020204" pitchFamily="34" charset="0"/>
                        </a:rPr>
                        <a:t>đều theo khoảng cách quy định</a:t>
                      </a: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 dọc từng row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Chỉ đặt ở </a:t>
                      </a:r>
                      <a:r>
                        <a:rPr lang="en-US" sz="1800" b="1">
                          <a:effectLst/>
                          <a:latin typeface="Arial" panose="020B0604020202020204" pitchFamily="34" charset="0"/>
                        </a:rPr>
                        <a:t>đầu và cuối mỗi row</a:t>
                      </a: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, đôi khi cả mép trên/dưới block scribd+1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915462"/>
                  </a:ext>
                </a:extLst>
              </a:tr>
              <a:tr h="6358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Tần suất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Nhiều cell, theo max tap distance của foundry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Ít hơn, chủ yếu ở boundary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20236"/>
                  </a:ext>
                </a:extLst>
              </a:tr>
              <a:tr h="904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Hậu quả nếu thiếu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Latch-up risk, DRC/LVS fail liên quan well tie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DRC fail ở row boundary, well/diffusion edge không hợp lệ blinknbuild+1</a:t>
                      </a:r>
                    </a:p>
                  </a:txBody>
                  <a:tcPr marL="49673" marR="49673" marT="49673" marB="49673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275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34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83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6D0EB8-040B-6C21-5F7B-51D6B4584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921593"/>
              </p:ext>
            </p:extLst>
          </p:nvPr>
        </p:nvGraphicFramePr>
        <p:xfrm>
          <a:off x="149344" y="625703"/>
          <a:ext cx="10975856" cy="5542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011">
                  <a:extLst>
                    <a:ext uri="{9D8B030D-6E8A-4147-A177-3AD203B41FA5}">
                      <a16:colId xmlns:a16="http://schemas.microsoft.com/office/drawing/2014/main" val="4288068679"/>
                    </a:ext>
                  </a:extLst>
                </a:gridCol>
                <a:gridCol w="2235144">
                  <a:extLst>
                    <a:ext uri="{9D8B030D-6E8A-4147-A177-3AD203B41FA5}">
                      <a16:colId xmlns:a16="http://schemas.microsoft.com/office/drawing/2014/main" val="460148038"/>
                    </a:ext>
                  </a:extLst>
                </a:gridCol>
                <a:gridCol w="3484196">
                  <a:extLst>
                    <a:ext uri="{9D8B030D-6E8A-4147-A177-3AD203B41FA5}">
                      <a16:colId xmlns:a16="http://schemas.microsoft.com/office/drawing/2014/main" val="138067019"/>
                    </a:ext>
                  </a:extLst>
                </a:gridCol>
                <a:gridCol w="3519505">
                  <a:extLst>
                    <a:ext uri="{9D8B030D-6E8A-4147-A177-3AD203B41FA5}">
                      <a16:colId xmlns:a16="http://schemas.microsoft.com/office/drawing/2014/main" val="3462514136"/>
                    </a:ext>
                  </a:extLst>
                </a:gridCol>
              </a:tblGrid>
              <a:tr h="669697">
                <a:tc>
                  <a:txBody>
                    <a:bodyPr/>
                    <a:lstStyle/>
                    <a:p>
                      <a:r>
                        <a:rPr lang="vi-VN" sz="18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Chip size limitation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Reasion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Solution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5809"/>
                  </a:ext>
                </a:extLst>
              </a:tr>
              <a:tr h="1713770"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limitation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High gate count</a:t>
                      </a:r>
                    </a:p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Usung slim I/O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Reduce powerplan metal width</a:t>
                      </a:r>
                    </a:p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Reduce placement blockage</a:t>
                      </a:r>
                    </a:p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Using fat/short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901806"/>
                  </a:ext>
                </a:extLst>
              </a:tr>
              <a:tr h="1962794"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Pad limitation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 many pad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 pad rule or used Stagger Pad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03493"/>
                  </a:ext>
                </a:extLst>
              </a:tr>
              <a:tr h="1196224"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 limitation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IP limitation</a:t>
                      </a:r>
                    </a:p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IP Guide</a:t>
                      </a:r>
                    </a:p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Release Iplimitation (need RD agree</a:t>
                      </a:r>
                    </a:p>
                    <a:p>
                      <a:r>
                        <a:rPr lang="vi-V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• Change pin order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152329"/>
                  </a:ext>
                </a:extLst>
              </a:tr>
            </a:tbl>
          </a:graphicData>
        </a:graphic>
      </p:graphicFrame>
      <p:pic>
        <p:nvPicPr>
          <p:cNvPr id="5" name="object 7">
            <a:extLst>
              <a:ext uri="{FF2B5EF4-FFF2-40B4-BE49-F238E27FC236}">
                <a16:creationId xmlns:a16="http://schemas.microsoft.com/office/drawing/2014/main" id="{7D46B0E7-A90A-E145-A69A-7659D85FF3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1280" y="3048929"/>
            <a:ext cx="3270635" cy="1690296"/>
          </a:xfrm>
          <a:prstGeom prst="rect">
            <a:avLst/>
          </a:prstGeom>
        </p:spPr>
      </p:pic>
      <p:pic>
        <p:nvPicPr>
          <p:cNvPr id="11" name="object 7">
            <a:extLst>
              <a:ext uri="{FF2B5EF4-FFF2-40B4-BE49-F238E27FC236}">
                <a16:creationId xmlns:a16="http://schemas.microsoft.com/office/drawing/2014/main" id="{357239AA-BE74-1ADC-E7E4-441AB945292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1280" y="1356471"/>
            <a:ext cx="3433920" cy="16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3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F244-8042-DE1C-B96C-7631B4F4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DA865-60F3-8FB9-AF41-811308F65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759" y="2242457"/>
            <a:ext cx="6041477" cy="410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0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AAAE-66F5-CCA5-4CE4-025C2301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9F2E2C40-CB0D-817E-BB92-FF3DDBA8E0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613" y="3050495"/>
            <a:ext cx="4983387" cy="186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78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517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Init 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Kiều Trịnh</dc:creator>
  <cp:lastModifiedBy>Kiều Trịnh</cp:lastModifiedBy>
  <cp:revision>1</cp:revision>
  <dcterms:created xsi:type="dcterms:W3CDTF">2026-10-13T14:31:25Z</dcterms:created>
  <dcterms:modified xsi:type="dcterms:W3CDTF">2026-10-13T16:08:23Z</dcterms:modified>
</cp:coreProperties>
</file>